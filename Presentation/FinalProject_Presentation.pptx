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 Case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-0.85</c:v>
                </c:pt>
                <c:pt idx="1">
                  <c:v>0.5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2F-1C4B-9014-F3D0C3E64E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Case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-0.85</c:v>
                </c:pt>
                <c:pt idx="1">
                  <c:v>1.5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2F-1C4B-9014-F3D0C3E64EC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Best Case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-0.85</c:v>
                </c:pt>
                <c:pt idx="1">
                  <c:v>3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2F-1C4B-9014-F3D0C3E64E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6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B2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1B2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B6D4"/>
              </a:solidFill>
              <a:ln w="25400" cap="flat">
                <a:solidFill>
                  <a:srgbClr val="141B2D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C9C-3F43-BB25-98A2008A04A7}"/>
              </c:ext>
            </c:extLst>
          </c:dPt>
          <c:dPt>
            <c:idx val="1"/>
            <c:bubble3D val="0"/>
            <c:spPr>
              <a:solidFill>
                <a:srgbClr val="10B981"/>
              </a:solidFill>
              <a:ln w="25400" cap="flat">
                <a:solidFill>
                  <a:srgbClr val="141B2D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C9C-3F43-BB25-98A2008A04A7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ln w="25400" cap="flat">
                <a:solidFill>
                  <a:srgbClr val="141B2D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AC9C-3F43-BB25-98A2008A04A7}"/>
              </c:ext>
            </c:extLst>
          </c:dPt>
          <c:dPt>
            <c:idx val="3"/>
            <c:bubble3D val="0"/>
            <c:spPr>
              <a:solidFill>
                <a:srgbClr val="EF4444"/>
              </a:solidFill>
              <a:ln w="25400" cap="flat">
                <a:solidFill>
                  <a:srgbClr val="141B2D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AC9C-3F43-BB25-98A2008A04A7}"/>
              </c:ext>
            </c:extLst>
          </c:dPt>
          <c:cat>
            <c:strRef>
              <c:f>Sheet1!$A$2:$A$5</c:f>
              <c:strCache>
                <c:ptCount val="4"/>
                <c:pt idx="0">
                  <c:v>Engineering 60%</c:v>
                </c:pt>
                <c:pt idx="1">
                  <c:v>GTM 25%</c:v>
                </c:pt>
                <c:pt idx="2">
                  <c:v>Infra 10%</c:v>
                </c:pt>
                <c:pt idx="3">
                  <c:v>Legal/SOC 2 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C9C-3F43-BB25-98A2008A04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141B2D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B2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137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/anay-a-joshi/agentic-diligenc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/anay-a-joshi/agentic-diligenc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164592" cy="24688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MGT-8803-SC  ·  NLP and Generative AI in Finance  ·  Final Project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Agentic AI for Private Equity Take-Private Diligence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Compressing 4 to 8 weeks of diligence into 2 minutes...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11274552" cy="18288"/>
          </a:xfrm>
          <a:prstGeom prst="rect">
            <a:avLst/>
          </a:prstGeom>
          <a:solidFill>
            <a:srgbClr val="2A365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AUTHORS / STUDENTS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Anay Abhijit Joshi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Vidhi Chaturvedi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Himanshu Bhatt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931920" y="4663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FACULTY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31920" y="49834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Professor Sudheer Chava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6656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0" y="49834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April 28, 2026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869680" y="4663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REPOSITORY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69680" y="49834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github.com/anay-a-joshi/agentic-diligence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Executive Summary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agentic AI platform that automates take-private screening for private equity firms.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 |  MGT-8803-SC  |  Final Project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/ 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40680" cy="15544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73152" cy="1554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15819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 associates spend 4-8 weeks and $300K-$800K per take-private candidate, manually parsing SEC filings and building LBO models. Roughly 95% of screened candidates never become deals.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40680" cy="15544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73152" cy="1554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37960" y="15819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37960" y="187452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deploys 8 specialist AI agents that read SEC EDGAR filings, build a Bull/Base/Bear LBO model, and produce a downloadable IC memo and editable Excel model - in approximately 2 minutes.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5440680" cy="15544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2735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MARKET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Approximately 5,000 active U.S. private equity firms manage over $2 trillion in dry powder. At a 5% penetration rate and $50K average seat price, the addressable market exceeds $250 million annually.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5440680" cy="15544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3108960"/>
            <a:ext cx="73152" cy="1554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37960" y="32735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MODEL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356616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Enterprise SaaS at $50K-$200K per analyst seat per year. Revenue streams include subscriptions, API metering, and white-label licensing. Target gross margin of 80%+ at steady state.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983480"/>
            <a:ext cx="11274552" cy="1280160"/>
          </a:xfrm>
          <a:prstGeom prst="rect">
            <a:avLst/>
          </a:prstGeom>
          <a:solidFill>
            <a:srgbClr val="1A2237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51480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~2 min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5824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RUNTIME PER ANALYSIS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270248" y="51480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270248" y="5824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SPECIALIST AGENTS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74152" y="51480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$300K+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074152" y="5824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COST COMPRESSION PER SCREEN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Industry Dynamics and the Pain Point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traditional take-private screening is structurally broken - and why the technology to fix it has just arrived.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 |  MGT-8803-SC  |  Final Project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solidFill>
            <a:srgbClr val="1A2237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 to 4 weeks of analyst work  →  2 minutes  ·  approximately 1,440x acceleration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5440680" cy="411480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73152" cy="4114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STATUS QUO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Take-Private Screening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4-8 week diligence cycle per candidate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$300K-$800K labor cost per single screen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Associates working 80-100 hour weeks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~95% of screens never become deals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 filings scattered across portals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Reproducibility and audit trail are weak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5440680" cy="411480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73152" cy="4114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37960" y="22860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NOW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37960" y="25603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Converging Tailwinds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37960" y="315468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Foundation LLMs (Llama 3.3 70B) reached production-grade reasoning in 2024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 EDGAR XBRL API made financial data programmatically accessible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Record $2T+ dry powder pressures faster screening cadence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 incumbents (Apollo, KKR, Blackstone) actively building internal AI teams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 Architecture: Eight Specialist Agents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coordinated multi-agent pipeline reads SEC filings and produces investment-grade outputs.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 |  MGT-8803-SC  |  Final Project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743200" cy="13258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Financial Agent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Extracts revenue, EBITDA, FCF from XBRL data; parses MD&amp;A for drivers and risks.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00984" y="1371600"/>
            <a:ext cx="2743200" cy="13258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83864" y="155448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83864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41064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Commercial Agent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83864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Identifies operating segments, products, and named competitors from 10-K Item 1.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44768" y="1371600"/>
            <a:ext cx="2743200" cy="13258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27648" y="155448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27648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84848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 Agent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27648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Scores top five risk factors with severity classifications from 10-K Item 1A.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988552" y="1371600"/>
            <a:ext cx="2743200" cy="13258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71432" y="155448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7143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28632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Governance Agent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71432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Assesses board structure and takeover defenses from DEF 14A proxy statements.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2743200" cy="13258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9728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Market Agent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Pulls live price, market capitalization, P/E, and beta from market data feeds.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300984" y="2834640"/>
            <a:ext cx="2743200" cy="13258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483864" y="301752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483864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941064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Sentiment Agent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483864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Analyzes management tone in MD&amp;A; detects directional shifts year over year.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144768" y="2834640"/>
            <a:ext cx="2743200" cy="13258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27648" y="301752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2764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784848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 Flag Agent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27648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Scans recent 8-K filings for material adverse events and governance changes.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988552" y="2834640"/>
            <a:ext cx="2743200" cy="13258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171432" y="301752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171432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628632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Synthesis Agent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171432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Consolidates the seven preceding outputs into an Investment Committee memo.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57200" y="4434840"/>
            <a:ext cx="11274552" cy="777240"/>
          </a:xfrm>
          <a:prstGeom prst="rect">
            <a:avLst/>
          </a:prstGeom>
          <a:solidFill>
            <a:srgbClr val="1A2237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57200" y="45262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DELIVERABLES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0-100 Feasibility Score  ·  3-page IC Memo (PDF)  ·  Live LBO Model (Excel)  ·  Bull / Base / Bear Scenarios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57200" y="5349240"/>
            <a:ext cx="11274552" cy="777240"/>
          </a:xfrm>
          <a:prstGeom prst="rect">
            <a:avLst/>
          </a:prstGeom>
          <a:solidFill>
            <a:srgbClr val="1A2237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57200" y="54406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STACK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57200" y="57150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Llama 3.3 70B (Groq)  ·  FastAPI  ·  Next.js 15  ·  Tailwind  ·  SEC EDGAR XBRL  ·  yfinance  ·  ReportLab  ·  openpyxl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Working Prototype: Validated on Dell Technologies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demonstration on a real take-private candidate, generating live SEC-grounded outputs.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 |  MGT-8803-SC  |  Final Project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/ 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577840" cy="484632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 DASHBOARD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Dell Technologies Inc.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DELL  ·  Technology  ·  CIK 1571996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1737360" cy="1737360"/>
          </a:xfrm>
          <a:prstGeom prst="ellipse">
            <a:avLst/>
          </a:prstGeom>
          <a:solidFill>
            <a:srgbClr val="141B2D"/>
          </a:solidFill>
          <a:ln w="508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40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 100  Grade F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3464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Pass - Fundamental Issues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3464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Recommendation: </a:t>
            </a:r>
            <a:r>
              <a:rPr lang="en-US" sz="13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34640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Base-case modeled returns of -14.6% IRR are below typical PE hurdle.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1520" y="5166360"/>
            <a:ext cx="5029200" cy="868680"/>
          </a:xfrm>
          <a:prstGeom prst="rect">
            <a:avLst/>
          </a:prstGeom>
          <a:solidFill>
            <a:srgbClr val="1A2237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1520" y="516636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0120" y="5257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SIZE-PROHIBITIVE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0120" y="5532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$140.4B market cap exceeds $50B PE LBO ceiling.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63640" y="1371600"/>
            <a:ext cx="5440680" cy="484632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15544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LBO RETURNS  ·  5-YEAR HOLD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37960" y="1965960"/>
            <a:ext cx="4892040" cy="777240"/>
          </a:xfrm>
          <a:prstGeom prst="rect">
            <a:avLst/>
          </a:prstGeom>
          <a:solidFill>
            <a:srgbClr val="1A2237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37960" y="196596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2084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BULL CASE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208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MOIC 1.63x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8972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+10.3%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37960" y="2880360"/>
            <a:ext cx="4892040" cy="777240"/>
          </a:xfrm>
          <a:prstGeom prst="rect">
            <a:avLst/>
          </a:prstGeom>
          <a:solidFill>
            <a:srgbClr val="1A2237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37960" y="288036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2084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 CASE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2084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MOIC 0.45x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8972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-14.6%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37960" y="3794760"/>
            <a:ext cx="4892040" cy="777240"/>
          </a:xfrm>
          <a:prstGeom prst="rect">
            <a:avLst/>
          </a:prstGeom>
          <a:solidFill>
            <a:srgbClr val="1A2237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537960" y="379476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2084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BEAR CASE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2084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MOIC 1.09x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18972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+1.8%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37960" y="47548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HEADLINE FINANCIALS  ·  FY2026  ·  SOURCED FROM SEC EDGAR XBRL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537960" y="5074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$88.4B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537960" y="5623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REVENUE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818120" y="5074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$8.7B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818120" y="5623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EBITDA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098280" y="5074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$5.9B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098280" y="5623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FCF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287000" y="5074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$140.4B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0287000" y="5623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MKT CAP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1,500+ lines Python backend  ·  2,000+ lines TypeScript frontend  ·  21+ Git commits  ·  End-to-end working prototype on localhost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Market Opportunity and Business Model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$250M+ addressable market in PE diligence, monetized through enterprise SaaS subscriptions.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 |  MGT-8803-SC  |  Final Project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/ 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MARKET SIZING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0" cy="15544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1554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1856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$250M+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5,000 PE firms × ~$50K/seat × 5% penetration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70248" y="1691640"/>
            <a:ext cx="3657600" cy="15544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70248" y="1691640"/>
            <a:ext cx="73152" cy="1554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44568" y="1856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44568" y="2148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$120M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44568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Mid-market and large PE firms in North America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74152" y="1691640"/>
            <a:ext cx="3657600" cy="15544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74152" y="169164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48472" y="1856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SOM (Y3)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48472" y="2148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$5M ARR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48472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enterprise logos at $500K average ACV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3657600" cy="274320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40690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Tier 1 (Boutique): $50K/seat/yr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Tier 2 (Mid-market): $100K/seat/yr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Tier 3 (Enterprise): $200K/seat/yr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Volume discount above 10 seats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270248" y="3520440"/>
            <a:ext cx="3657600" cy="274320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53128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REVENUE STREAMS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453128" y="40690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Annual SaaS subscriptions (~80%)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 metering for headless usage (~15%)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White-label licensing (~5%)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Premium support upsell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74152" y="3520440"/>
            <a:ext cx="3657600" cy="274320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57032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UNIT ECONOMICS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57032" y="40690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CAC: ~$15K per logo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LTV/CAC target: 5x at maturity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Gross margin: ~80% at scale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Compute: ~5% of revenue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Competitive Landscape and SWOT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is the only agentic, output-grade screening platform; incumbents remain data providers.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 |  MGT-8803-SC  |  Final Project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/ 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577840" cy="484632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COMPETITOR MATRIX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676835"/>
              </p:ext>
            </p:extLst>
          </p:nvPr>
        </p:nvGraphicFramePr>
        <p:xfrm>
          <a:off x="713232" y="2409829"/>
          <a:ext cx="4937760" cy="25603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Capability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HELIOS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CapIQ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PB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Agentic AI pipeline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Auto LBO model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IC memo generation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Live editable Excel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Real-time SEC ingestion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0-100 feasibility score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Take-private screening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◐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31520" y="5806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CapIQ = S&amp;P Capital IQ;  PB = Pitchbook;  ◐ = partial.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63640" y="13716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SWOT ANALYSIS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63640" y="1737360"/>
            <a:ext cx="2606040" cy="219456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63640" y="1737360"/>
            <a:ext cx="73152" cy="2194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4652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STRENGTHS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46520" y="21945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First-mover in agentic diligence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8-agent architecture vs single LLM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deliverables: PDF + Live Excel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Production-grade UI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098280" y="1737360"/>
            <a:ext cx="2606040" cy="219456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098280" y="1737360"/>
            <a:ext cx="73152" cy="2194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28116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WEAKNESSES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281160" y="21945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 foundation model dependency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proprietary data moat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Requires PE workflow integration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Early-stage brand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263640" y="4069080"/>
            <a:ext cx="2606040" cy="219456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263640" y="4069080"/>
            <a:ext cx="73152" cy="21945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46520" y="4206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OPPORTUNITIES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46520" y="45262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5,000 US PE firms TAM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Expansion to IB and corp dev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International PE markets (EU, Asia)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Adjacency: roll-up screening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098280" y="4069080"/>
            <a:ext cx="2606040" cy="219456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098280" y="4069080"/>
            <a:ext cx="73152" cy="21945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281160" y="4206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THREATS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281160" y="45262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Incumbents add agentic features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Foundation model commoditization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regulation in finance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Talent compensation pressure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AI-Native Competitors and Defensible Moat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Beyond legacy data providers - how HELIOS holds the line against the next wave.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 |  MGT-8803-SC  |  Final Project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/ 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6400800" cy="484632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AI-NATIVE COMPETITOR LANDSCAPE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550807"/>
              </p:ext>
            </p:extLst>
          </p:nvPr>
        </p:nvGraphicFramePr>
        <p:xfrm>
          <a:off x="731520" y="1965960"/>
          <a:ext cx="5852160" cy="2468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Competitor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Focus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Gap vs. HELIOS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AlphaSense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Search across filings &amp; transcripts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 LBO model, no IC memo, no scoring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Hebbia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Document Q&amp;A for finance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Generic; not PE-workflow native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Rogo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Investment banking workflows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IB-focused; no take-private screening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BlueFlame AI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Alt-asset GP workflow assistant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Workflow tool, not output generator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Internal PE AI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Apollo, KKR, Blackstone in-house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Not commercial; built for one firm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4709160"/>
            <a:ext cx="5852160" cy="1325880"/>
          </a:xfrm>
          <a:prstGeom prst="rect">
            <a:avLst/>
          </a:prstGeom>
          <a:solidFill>
            <a:srgbClr val="1A2237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1520" y="4709160"/>
            <a:ext cx="73152" cy="1325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14400" y="48463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HELIOS WINS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4400" y="512064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Verticalized for take-private screening - not a horizontal Q&amp;A tool. Produces investment-grade deliverables (PDF memo + live Excel), not just answers. Other startups stop at retrieval; HELIOS goes through to recommendation.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040880" y="1371600"/>
            <a:ext cx="4690872" cy="274320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269480" y="155448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DEFENSIBLE MOAT (4 LAYERS)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269480" y="196596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26948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635240" y="192024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Orchestration layer - </a:t>
            </a: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Proprietary 8-agent coordination logic; not the LLM itself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269480" y="24688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26948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635240" y="242316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Domain prompts - </a:t>
            </a: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Structured prompts encoding PE diligence heuristics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269480" y="297180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2694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635240" y="292608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Scoring algorithm - </a:t>
            </a: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6-dimension weighted model refined via customer feedback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269480" y="347472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26948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635240" y="342900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Workflow lock-in - </a:t>
            </a: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IC memo + Excel become analyst's working artifacts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7040880" y="4206240"/>
            <a:ext cx="4690872" cy="91440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7040880" y="420624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269480" y="4315968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IP STRATEGY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269480" y="4572000"/>
            <a:ext cx="4325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Patents pending: multi-agent orchestration + feasibility scoring. Trade-secret on prompts/weights. Trademark on HELIOS mark.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040880" y="5212080"/>
            <a:ext cx="4690872" cy="100584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7040880" y="5212080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269480" y="5321808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CAC vs. INCUMBENTS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269479" y="5577840"/>
            <a:ext cx="44348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HELIOS: </a:t>
            </a: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~$15K/logo (founder-led)  ·  </a:t>
            </a:r>
            <a:r>
              <a:rPr lang="en-US" sz="10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Incumbents: </a:t>
            </a: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$50K-$100K (enterprise sales)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Financial Projections, Regulation, and Path to Exit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Three-year financial trajectory, regulatory positioning, and acquirer landscape.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 |  MGT-8803-SC  |  Final Project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/ 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943600" cy="484632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3-YEAR ARR PROJECTIONS ($M, BY SCENARIO)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538919789"/>
              </p:ext>
            </p:extLst>
          </p:nvPr>
        </p:nvGraphicFramePr>
        <p:xfrm>
          <a:off x="640080" y="2011680"/>
          <a:ext cx="55778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73152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Startup costs: ~$850K Y1 burn  ·  Cash flow positive Y2  ·  $5M ARR Y3 (base)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583680" y="1371600"/>
            <a:ext cx="5148072" cy="15544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583680" y="1371600"/>
            <a:ext cx="73152" cy="1554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12280" y="1490472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REGULATORY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812280" y="1755648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 investment advice (clear disclaimer on every output)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 EDGAR data is public domain - no licensing fees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 2 Type II planned for Year 2 enterprise sales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Aligns with SEC Marketing Rule 206(4)-1 for advisor use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583680" y="3017520"/>
            <a:ext cx="5148072" cy="15544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583680" y="301752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812280" y="3136392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RISKS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812280" y="3401568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Foundation model regression on prompt sensitivity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 API changes (mitigated via 24-hour result cache)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Incumbent response from CapIQ / Pitchbook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Compute cost shocks if Groq pricing changes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583680" y="4663440"/>
            <a:ext cx="5148072" cy="15544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583680" y="466344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812280" y="4782312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EXIT STRATEGY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812280" y="5047488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Strategic acquirer: S&amp;P Global, Moody's, Bloomberg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Adjacent acquirer: Salesforce, Oracle, SAP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Indicative valuation: 12-18x ARR (SaaS comps)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horizon: Year 4 to Year 6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Funding Ask and 18-Month Roadmap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$1.5M seed gets HELIOS to revenue and a defensible market position.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 |  MGT-8803-SC  |  Final Project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/ 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577840" cy="274320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2743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ASK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$1.5M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SEED ROUND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18 mo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RUNWAY TO BREAKEVEN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$6M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PRE-MONEY VALUATION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2926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~20%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9184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EQUITY OFFERED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1371600"/>
            <a:ext cx="5440680" cy="274320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37960" y="15544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OF FUNDS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2354654797"/>
              </p:ext>
            </p:extLst>
          </p:nvPr>
        </p:nvGraphicFramePr>
        <p:xfrm>
          <a:off x="6446520" y="1874520"/>
          <a:ext cx="23774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8961120" y="2057400"/>
            <a:ext cx="182880" cy="1828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235440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78408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Engineering (2 senior + 1 ML)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961120" y="251460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23544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25%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78408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GTM (founder-led + 1 BD)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8961120" y="2971800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235440" y="2926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78408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Infra &amp; compute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8961120" y="3429000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9235440" y="3383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978408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Legal &amp; SOC 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57200" y="4251960"/>
            <a:ext cx="5577840" cy="196596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57200" y="4251960"/>
            <a:ext cx="73152" cy="1965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31520" y="4389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INVESTORS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31520" y="470916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Bessemer Venture Partners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Nyca Partners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QED Investors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Strategic angels: Apollo / KKR / Blackstone alumni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263640" y="4251960"/>
            <a:ext cx="5440680" cy="196596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537960" y="43891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18-MONTH ROADMAP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537960" y="4709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Q3'26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7360920" y="4709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Seed close · 3 design partners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537960" y="5001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Q4'26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360920" y="50017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 2 Type I · multi-LLM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537960" y="52943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Q1'27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7360920" y="52943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First 3 paid logos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6537960" y="55869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Q2'27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7360920" y="55869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$500K ARR · Series A talks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537960" y="5879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Q3'27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360920" y="58795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logos · $1M ARR · Series 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2926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and Recommendation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team, the verdict, and what we're asking the room to do next.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 |  MGT-8803-SC  |  Final Project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/ 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TEAM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0" cy="192024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1920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1A2237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AAJ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304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Anay Abhijit Joshi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304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Lead Author &amp; Technical Architect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Georgia Tech MS-QCF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2971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Full-stack engineering, agent orchestration, LBO modeling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65676" y="1691640"/>
            <a:ext cx="3657600" cy="192024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65676" y="1691640"/>
            <a:ext cx="73152" cy="1920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39996" y="1920240"/>
            <a:ext cx="640080" cy="640080"/>
          </a:xfrm>
          <a:prstGeom prst="ellipse">
            <a:avLst/>
          </a:prstGeom>
          <a:solidFill>
            <a:srgbClr val="1A2237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3999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71516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Vidhi Chaturvedi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71516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 &amp; Market Strategy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39996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Georgia Tech MS-QCF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39996" y="2971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Market sizing, go-to-market, business model design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74152" y="1691640"/>
            <a:ext cx="3657600" cy="192024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74152" y="1691640"/>
            <a:ext cx="73152" cy="1920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348472" y="1920240"/>
            <a:ext cx="640080" cy="640080"/>
          </a:xfrm>
          <a:prstGeom prst="ellipse">
            <a:avLst/>
          </a:prstGeom>
          <a:solidFill>
            <a:srgbClr val="1A2237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4847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79992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Himanshu Bhatt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079992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Financial Modeling &amp; Validation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348472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Georgia Tech MS-QCF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48472" y="2971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LBO engine validation, financial analysis, PE workflow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7315200" cy="1783080"/>
          </a:xfrm>
          <a:prstGeom prst="rect">
            <a:avLst/>
          </a:prstGeom>
          <a:solidFill>
            <a:srgbClr val="141B2D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0080" y="3886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EXECUTION-RISK ASSESSMENT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00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Foundation-model dependency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870532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57600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Multi-LLM redundancy roadmapped Q4 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0080" y="4517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 API drift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870532" y="45135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657600" y="4517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24-hour result cache; nightly schema validation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Incumbent fast-follow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870532" y="4818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657600" y="4828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Patent filings; workflow lock-in via deliverables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008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 sales-cycle length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870532" y="5129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0" y="5138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Design-partner program; founder-led warm intros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955280" y="3749040"/>
            <a:ext cx="3776472" cy="1783080"/>
          </a:xfrm>
          <a:prstGeom prst="rect">
            <a:avLst/>
          </a:prstGeom>
          <a:solidFill>
            <a:srgbClr val="1A2237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955280" y="3749040"/>
            <a:ext cx="73152" cy="1783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183880" y="385876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183880" y="4114800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PROCEED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183880" y="4709160"/>
            <a:ext cx="3410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Working prototype · validated economics · defensible orchestration moat · clear path to liquidity at 12-18x ARR.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57200" y="5669280"/>
            <a:ext cx="11274552" cy="685800"/>
          </a:xfrm>
          <a:prstGeom prst="rect">
            <a:avLst/>
          </a:prstGeom>
          <a:solidFill>
            <a:srgbClr val="1A2237"/>
          </a:solidFill>
          <a:ln w="9525">
            <a:solidFill>
              <a:srgbClr val="2A365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57200" y="5669280"/>
            <a:ext cx="73152" cy="6858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40080" y="56692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ASK TO THIS ROOM:  </a:t>
            </a:r>
            <a:r>
              <a:rPr lang="en-US" sz="12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Intros to PE design partners  ·  Seed investor introductions  ·  Feedback on prompt library and scoring weights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1691640"/>
            <a:ext cx="228600" cy="228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Questions &amp; Discussion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0" y="4434840"/>
            <a:ext cx="3959352" cy="18288"/>
          </a:xfrm>
          <a:prstGeom prst="rect">
            <a:avLst/>
          </a:prstGeom>
          <a:solidFill>
            <a:srgbClr val="2A365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github.com/anay-a-joshi/agentic-diligence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HELIOS  |  MGT-8803-SC  |  Final Project  |  12 / 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1849</Words>
  <Application>Microsoft Macintosh PowerPoint</Application>
  <PresentationFormat>Widescreen</PresentationFormat>
  <Paragraphs>355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Presentation</dc:title>
  <dc:subject/>
  <dc:creator>Joshi, Anay (ajoshi498)</dc:creator>
  <cp:keywords/>
  <dc:description/>
  <cp:lastModifiedBy>Joshi, Anay (joshi2an)</cp:lastModifiedBy>
  <cp:revision>26</cp:revision>
  <dcterms:created xsi:type="dcterms:W3CDTF">2026-05-04T01:11:45Z</dcterms:created>
  <dcterms:modified xsi:type="dcterms:W3CDTF">2026-05-04T02:14:08Z</dcterms:modified>
  <cp:category/>
</cp:coreProperties>
</file>